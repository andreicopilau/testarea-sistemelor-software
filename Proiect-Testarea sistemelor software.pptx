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Stil mediu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2DE63D5-997A-4646-A377-4702673A728D}" styleName="Stil luminos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 medi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>
              <a:latin typeface="Calibri" panose="020F0502020204030204" pitchFamily="34" charset="0"/>
            </a:endParaRPr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3DA6425-DD80-4857-8A09-D41451AF4202}" type="datetime1">
              <a:rPr lang="ro-RO" smtClean="0">
                <a:latin typeface="Calibri" panose="020F0502020204030204" pitchFamily="34" charset="0"/>
              </a:rPr>
              <a:t>17.05.2026</a:t>
            </a:fld>
            <a:endParaRPr lang="ro-RO">
              <a:latin typeface="Calibri" panose="020F0502020204030204" pitchFamily="34" charset="0"/>
            </a:endParaRPr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>
              <a:latin typeface="Calibri" panose="020F0502020204030204" pitchFamily="34" charset="0"/>
            </a:endParaRPr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33ADDF-418B-4AEE-81B9-E77B3218F8B3}" type="slidenum">
              <a:rPr lang="ro-RO" smtClean="0">
                <a:latin typeface="Calibri" panose="020F0502020204030204" pitchFamily="34" charset="0"/>
              </a:rPr>
              <a:t>‹#›</a:t>
            </a:fld>
            <a:endParaRPr lang="ro-R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9590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ro-RO" noProof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D360BE9-FEFA-4EEB-ACE4-A7A0B3316479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/>
              <a:t>Faceți clic pentru a edita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275029A-2D1E-47A5-9598-4A9AC47B3AC1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0307704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5029A-2D1E-47A5-9598-4A9AC47B3AC1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1977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5029A-2D1E-47A5-9598-4A9AC47B3AC1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37230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5029A-2D1E-47A5-9598-4A9AC47B3AC1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19685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5029A-2D1E-47A5-9598-4A9AC47B3AC1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0717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5029A-2D1E-47A5-9598-4A9AC47B3AC1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996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l">
              <a:defRPr sz="600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2266FF1D-E6B4-46E8-816D-5F3021344BE1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 noProof="0"/>
              <a:t>Adăugați un subsol</a:t>
            </a:r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4832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o-RO" noProof="0"/>
              <a:t>Faceți clic pentru a edita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9EFDDDC8-0F42-4DCA-A805-F59735A7AB6F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 noProof="0"/>
              <a:t>Adăugați un subsol</a:t>
            </a:r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70246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rtlCol="0" anchor="b"/>
          <a:lstStyle>
            <a:lvl1pPr>
              <a:defRPr sz="6000">
                <a:latin typeface="Calibri" panose="020F0502020204030204" pitchFamily="34" charset="0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latin typeface="Calibri" panose="020F0502020204030204" pitchFamily="34" charset="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o-RO" noProof="0"/>
              <a:t>Faceți clic pentru a edita stilurile de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F0F458AF-092D-499E-99A4-8D68FE4B384B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 noProof="0"/>
              <a:t>Adăugați un subsol</a:t>
            </a:r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23361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o-RO"/>
              <a:t>Faceți clic pentru a edita stilurile de text coordonator</a:t>
            </a:r>
          </a:p>
          <a:p>
            <a:pPr lvl="1" rtl="0"/>
            <a:r>
              <a:rPr lang="ro-RO"/>
              <a:t>Al doilea nivel</a:t>
            </a:r>
          </a:p>
          <a:p>
            <a:pPr lvl="2" rtl="0"/>
            <a:r>
              <a:rPr lang="ro-RO"/>
              <a:t>Al treilea nivel</a:t>
            </a:r>
          </a:p>
          <a:p>
            <a:pPr lvl="3" rtl="0"/>
            <a:r>
              <a:rPr lang="ro-RO"/>
              <a:t>Al patrulea nivel</a:t>
            </a:r>
          </a:p>
          <a:p>
            <a:pPr lvl="4" rtl="0"/>
            <a:r>
              <a:rPr lang="ro-RO"/>
              <a:t>Al cincilea nivel</a:t>
            </a:r>
            <a:endParaRPr lang="ro-RO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o-RO"/>
              <a:t>Faceți clic pentru a edita stilurile de text coordonator</a:t>
            </a:r>
          </a:p>
          <a:p>
            <a:pPr lvl="1" rtl="0"/>
            <a:r>
              <a:rPr lang="ro-RO"/>
              <a:t>Al doilea nivel</a:t>
            </a:r>
          </a:p>
          <a:p>
            <a:pPr lvl="2" rtl="0"/>
            <a:r>
              <a:rPr lang="ro-RO"/>
              <a:t>Al treilea nivel</a:t>
            </a:r>
          </a:p>
          <a:p>
            <a:pPr lvl="3" rtl="0"/>
            <a:r>
              <a:rPr lang="ro-RO"/>
              <a:t>Al patrulea nivel</a:t>
            </a:r>
          </a:p>
          <a:p>
            <a:pPr lvl="4" rtl="0"/>
            <a:r>
              <a:rPr lang="ro-RO"/>
              <a:t>Al cincilea nivel</a:t>
            </a:r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4952C26-41EE-4677-89BD-831A2709FB5D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218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831850" y="1489075"/>
            <a:ext cx="5156200" cy="641350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831850" y="2193925"/>
            <a:ext cx="5156200" cy="3978275"/>
          </a:xfrm>
        </p:spPr>
        <p:txBody>
          <a:bodyPr rtlCol="0"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Faceți clic pentru a edita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189663" y="1489075"/>
            <a:ext cx="5157787" cy="641350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 hasCustomPrompt="1"/>
          </p:nvPr>
        </p:nvSpPr>
        <p:spPr>
          <a:xfrm>
            <a:off x="6189663" y="2193925"/>
            <a:ext cx="5157787" cy="3978275"/>
          </a:xfrm>
        </p:spPr>
        <p:txBody>
          <a:bodyPr rtlCol="0"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Faceți clic pentru a edita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62D8DEA4-002E-4113-87CD-BC00FC2AAD16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 noProof="0"/>
              <a:t>Adăugați un subsol</a:t>
            </a:r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10092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9B1BC54B-052B-4378-8B02-DB1925055BE4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1840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E50A0B7-163B-4139-A7D9-A638CC9DFFFF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9762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o-RO"/>
              <a:t>Faceți clic pentru a edita stilurile de text coordonator</a:t>
            </a:r>
          </a:p>
          <a:p>
            <a:pPr lvl="1" rtl="0"/>
            <a:r>
              <a:rPr lang="ro-RO"/>
              <a:t>Al doilea nivel</a:t>
            </a:r>
          </a:p>
          <a:p>
            <a:pPr lvl="2" rtl="0"/>
            <a:r>
              <a:rPr lang="ro-RO"/>
              <a:t>Al treilea nivel</a:t>
            </a:r>
          </a:p>
          <a:p>
            <a:pPr lvl="3" rtl="0"/>
            <a:r>
              <a:rPr lang="ro-RO"/>
              <a:t>Al patrulea nivel</a:t>
            </a:r>
          </a:p>
          <a:p>
            <a:pPr lvl="4" rtl="0"/>
            <a:r>
              <a:rPr lang="ro-RO"/>
              <a:t>Al cincilea nivel</a:t>
            </a:r>
            <a:endParaRPr lang="ro-RO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/>
              <a:t>Faceți clic pentru a edita stilurile de text coordonator</a:t>
            </a:r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FF92686-838B-4B0E-9E79-1D51AC9999E7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4365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imagine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o-RO"/>
              <a:t>Faceți clic pe pictogramă pentru a adăuga o imagine</a:t>
            </a:r>
            <a:endParaRPr lang="ro-RO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/>
              <a:t>Faceți clic pentru a edita stilurile de text coordonator</a:t>
            </a:r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BC555F13-99F5-4540-829C-35E76E2FD869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2229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u ș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o-RO"/>
              <a:t>Faceți clic pentru a edita stilurile de text coordonator</a:t>
            </a:r>
          </a:p>
          <a:p>
            <a:pPr lvl="1" rtl="0"/>
            <a:r>
              <a:rPr lang="ro-RO"/>
              <a:t>Al doilea nivel</a:t>
            </a:r>
          </a:p>
          <a:p>
            <a:pPr lvl="2" rtl="0"/>
            <a:r>
              <a:rPr lang="ro-RO"/>
              <a:t>Al treilea nivel</a:t>
            </a:r>
          </a:p>
          <a:p>
            <a:pPr lvl="3" rtl="0"/>
            <a:r>
              <a:rPr lang="ro-RO"/>
              <a:t>Al patrulea nivel</a:t>
            </a:r>
          </a:p>
          <a:p>
            <a:pPr lvl="4" rtl="0"/>
            <a:r>
              <a:rPr lang="ro-RO"/>
              <a:t>Al cincilea nivel</a:t>
            </a:r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BD5A28D5-3CB3-4E03-BFF4-03BBB0214D24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317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o-RO"/>
              <a:t>Faceți clic pentru a edita stilurile de text coordonator</a:t>
            </a:r>
          </a:p>
          <a:p>
            <a:pPr lvl="1" rtl="0"/>
            <a:r>
              <a:rPr lang="ro-RO"/>
              <a:t>Al doilea nivel</a:t>
            </a:r>
          </a:p>
          <a:p>
            <a:pPr lvl="2" rtl="0"/>
            <a:r>
              <a:rPr lang="ro-RO"/>
              <a:t>Al treilea nivel</a:t>
            </a:r>
          </a:p>
          <a:p>
            <a:pPr lvl="3" rtl="0"/>
            <a:r>
              <a:rPr lang="ro-RO"/>
              <a:t>Al patrulea nivel</a:t>
            </a:r>
          </a:p>
          <a:p>
            <a:pPr lvl="4" rtl="0"/>
            <a:r>
              <a:rPr lang="ro-RO"/>
              <a:t>Al cincilea nivel</a:t>
            </a:r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F627F18-2E00-4F34-BB04-2BB8C2BA8F36}" type="datetime1">
              <a:rPr lang="ro-RO" smtClean="0"/>
              <a:t>17.05.2026</a:t>
            </a:fld>
            <a:endParaRPr lang="ro-RO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ro-RO"/>
              <a:t>Adăugați un subsol</a:t>
            </a:r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smtClean="0"/>
              <a:pPr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4623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o-RO" noProof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/>
              <a:t>Faceți clic pentru a edita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67421560-B65E-4A0D-BC3D-86D0083B4B4E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ro-RO" noProof="0"/>
              <a:t>Adăugați un subsol</a:t>
            </a:r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062D6987-FB6D-4DB8-81B8-AD0F35E3BB5F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9815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dreiCopilau/testarea-sistemelor-software/blob/main/docs/ai_report.m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852196" y="1398512"/>
            <a:ext cx="10487607" cy="1404257"/>
          </a:xfrm>
        </p:spPr>
        <p:txBody>
          <a:bodyPr rtlCol="0">
            <a:normAutofit/>
          </a:bodyPr>
          <a:lstStyle/>
          <a:p>
            <a:pPr algn="ctr" rtl="0"/>
            <a:r>
              <a:rPr lang="en-GB" sz="4800" dirty="0" err="1">
                <a:solidFill>
                  <a:schemeClr val="tx1"/>
                </a:solidFill>
                <a:latin typeface="Calibri" panose="020F0502020204030204" pitchFamily="34" charset="0"/>
              </a:rPr>
              <a:t>Proiect</a:t>
            </a:r>
            <a:r>
              <a:rPr lang="en-GB" sz="48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GB" sz="4800" dirty="0" err="1">
                <a:solidFill>
                  <a:schemeClr val="tx1"/>
                </a:solidFill>
                <a:latin typeface="Calibri" panose="020F0502020204030204" pitchFamily="34" charset="0"/>
              </a:rPr>
              <a:t>Testarea</a:t>
            </a:r>
            <a:r>
              <a:rPr lang="en-GB" sz="48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GB" sz="4800" dirty="0" err="1">
                <a:solidFill>
                  <a:schemeClr val="tx1"/>
                </a:solidFill>
                <a:latin typeface="Calibri" panose="020F0502020204030204" pitchFamily="34" charset="0"/>
              </a:rPr>
              <a:t>sistemelor</a:t>
            </a:r>
            <a:r>
              <a:rPr lang="en-GB" sz="4800" dirty="0">
                <a:solidFill>
                  <a:schemeClr val="tx1"/>
                </a:solidFill>
                <a:latin typeface="Calibri" panose="020F0502020204030204" pitchFamily="34" charset="0"/>
              </a:rPr>
              <a:t> software</a:t>
            </a:r>
            <a:endParaRPr lang="ro-RO" sz="48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524000" y="2944230"/>
            <a:ext cx="9144000" cy="484770"/>
          </a:xfrm>
        </p:spPr>
        <p:txBody>
          <a:bodyPr rtlCol="0"/>
          <a:lstStyle/>
          <a:p>
            <a:pPr algn="ctr" rtl="0"/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</a:rPr>
              <a:t>T1 </a:t>
            </a:r>
            <a:r>
              <a:rPr lang="ro-RO" dirty="0">
                <a:solidFill>
                  <a:schemeClr val="tx1"/>
                </a:solidFill>
                <a:latin typeface="Calibri" panose="020F0502020204030204" pitchFamily="34" charset="0"/>
              </a:rPr>
              <a:t>- </a:t>
            </a:r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</a:rPr>
              <a:t>Testare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</a:rPr>
              <a:t>unitar</a:t>
            </a:r>
            <a:r>
              <a:rPr lang="ro-RO" dirty="0">
                <a:solidFill>
                  <a:schemeClr val="tx1"/>
                </a:solidFill>
              </a:rPr>
              <a:t>ă în </a:t>
            </a:r>
            <a:r>
              <a:rPr lang="ro-RO" dirty="0" err="1">
                <a:solidFill>
                  <a:schemeClr val="tx1"/>
                </a:solidFill>
              </a:rPr>
              <a:t>Python</a:t>
            </a:r>
            <a:endParaRPr lang="ro-RO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82E43422-8F0F-D6B0-75BA-A078B12B01A3}"/>
              </a:ext>
            </a:extLst>
          </p:cNvPr>
          <p:cNvSpPr txBox="1"/>
          <p:nvPr/>
        </p:nvSpPr>
        <p:spPr>
          <a:xfrm>
            <a:off x="9657184" y="4957559"/>
            <a:ext cx="253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Copilău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Andrei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Florea Mihai-Alexandru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Piele Stefan-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Vladut</a:t>
            </a:r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Filote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Toma-Andrei</a:t>
            </a:r>
          </a:p>
        </p:txBody>
      </p:sp>
    </p:spTree>
    <p:extLst>
      <p:ext uri="{BB962C8B-B14F-4D97-AF65-F5344CB8AC3E}">
        <p14:creationId xmlns:p14="http://schemas.microsoft.com/office/powerpoint/2010/main" val="17561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u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o-RO" dirty="0"/>
              <a:t>Configurația folosită</a:t>
            </a:r>
          </a:p>
        </p:txBody>
      </p:sp>
      <p:sp>
        <p:nvSpPr>
          <p:cNvPr id="14" name="Substituent conținut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en-GB" sz="2400" dirty="0" err="1">
                <a:latin typeface="Calibri" panose="020F0502020204030204" pitchFamily="34" charset="0"/>
              </a:rPr>
              <a:t>Sistemul</a:t>
            </a:r>
            <a:r>
              <a:rPr lang="en-GB" sz="2400" dirty="0">
                <a:latin typeface="Calibri" panose="020F0502020204030204" pitchFamily="34" charset="0"/>
              </a:rPr>
              <a:t> de </a:t>
            </a:r>
            <a:r>
              <a:rPr lang="en-GB" sz="2400" dirty="0" err="1">
                <a:latin typeface="Calibri" panose="020F0502020204030204" pitchFamily="34" charset="0"/>
              </a:rPr>
              <a:t>operare</a:t>
            </a:r>
            <a:r>
              <a:rPr lang="en-GB" sz="2400" dirty="0">
                <a:latin typeface="Calibri" panose="020F0502020204030204" pitchFamily="34" charset="0"/>
              </a:rPr>
              <a:t> – </a:t>
            </a:r>
            <a:r>
              <a:rPr lang="en-GB" sz="2400" b="1" dirty="0">
                <a:latin typeface="Calibri" panose="020F0502020204030204" pitchFamily="34" charset="0"/>
              </a:rPr>
              <a:t>Ubuntu 24.04</a:t>
            </a:r>
          </a:p>
          <a:p>
            <a:pPr lvl="0" rtl="0"/>
            <a:r>
              <a:rPr lang="en-GB" sz="2400" dirty="0" err="1"/>
              <a:t>Limbaj</a:t>
            </a:r>
            <a:r>
              <a:rPr lang="en-GB" sz="2400" dirty="0"/>
              <a:t> de </a:t>
            </a:r>
            <a:r>
              <a:rPr lang="en-GB" sz="2400" dirty="0" err="1"/>
              <a:t>programare</a:t>
            </a:r>
            <a:r>
              <a:rPr lang="en-GB" sz="2400" dirty="0"/>
              <a:t> – </a:t>
            </a:r>
            <a:r>
              <a:rPr lang="en-GB" sz="2400" b="1" dirty="0"/>
              <a:t>Python 3.12</a:t>
            </a:r>
          </a:p>
          <a:p>
            <a:pPr lvl="0" rtl="0"/>
            <a:r>
              <a:rPr lang="en-GB" sz="2400" dirty="0">
                <a:latin typeface="Calibri" panose="020F0502020204030204" pitchFamily="34" charset="0"/>
              </a:rPr>
              <a:t>Framework </a:t>
            </a:r>
            <a:r>
              <a:rPr lang="en-GB" sz="2400" dirty="0" err="1">
                <a:latin typeface="Calibri" panose="020F0502020204030204" pitchFamily="34" charset="0"/>
              </a:rPr>
              <a:t>pentru</a:t>
            </a:r>
            <a:r>
              <a:rPr lang="en-GB" sz="2400" dirty="0">
                <a:latin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</a:rPr>
              <a:t>testare</a:t>
            </a:r>
            <a:r>
              <a:rPr lang="ro-RO" sz="2400" dirty="0">
                <a:latin typeface="Calibri" panose="020F0502020204030204" pitchFamily="34" charset="0"/>
              </a:rPr>
              <a:t> </a:t>
            </a:r>
            <a:r>
              <a:rPr lang="ro-RO" sz="2400" dirty="0"/>
              <a:t>– </a:t>
            </a:r>
            <a:r>
              <a:rPr lang="ro-RO" sz="2400" b="1" dirty="0" err="1"/>
              <a:t>unittest</a:t>
            </a:r>
            <a:endParaRPr lang="ro-RO" sz="2400" b="1" dirty="0"/>
          </a:p>
          <a:p>
            <a:pPr lvl="0" rtl="0"/>
            <a:r>
              <a:rPr lang="ro-RO" sz="2400" dirty="0" err="1">
                <a:latin typeface="Calibri" panose="020F0502020204030204" pitchFamily="34" charset="0"/>
              </a:rPr>
              <a:t>Tool</a:t>
            </a:r>
            <a:r>
              <a:rPr lang="ro-RO" sz="2400" dirty="0">
                <a:latin typeface="Calibri" panose="020F0502020204030204" pitchFamily="34" charset="0"/>
              </a:rPr>
              <a:t> pentru acoperire cod – </a:t>
            </a:r>
            <a:r>
              <a:rPr lang="ro-RO" sz="2400" b="1" dirty="0">
                <a:latin typeface="Calibri" panose="020F0502020204030204" pitchFamily="34" charset="0"/>
              </a:rPr>
              <a:t>coverage.py 7.x</a:t>
            </a:r>
          </a:p>
          <a:p>
            <a:pPr lvl="0" rtl="0"/>
            <a:r>
              <a:rPr lang="ro-RO" sz="2400" dirty="0" err="1"/>
              <a:t>Tool</a:t>
            </a:r>
            <a:r>
              <a:rPr lang="ro-RO" sz="2400" dirty="0"/>
              <a:t> </a:t>
            </a:r>
            <a:r>
              <a:rPr lang="ro-RO" sz="2400" dirty="0" err="1"/>
              <a:t>mutation</a:t>
            </a:r>
            <a:r>
              <a:rPr lang="ro-RO" sz="2400" dirty="0"/>
              <a:t> </a:t>
            </a:r>
            <a:r>
              <a:rPr lang="ro-RO" sz="2400" dirty="0" err="1"/>
              <a:t>testing</a:t>
            </a:r>
            <a:r>
              <a:rPr lang="ro-RO" sz="2400" dirty="0"/>
              <a:t> – </a:t>
            </a:r>
            <a:r>
              <a:rPr lang="ro-RO" sz="2400" b="1" dirty="0" err="1"/>
              <a:t>mutmut</a:t>
            </a:r>
            <a:r>
              <a:rPr lang="ro-RO" sz="2400" b="1" dirty="0"/>
              <a:t> 3.5.0</a:t>
            </a:r>
          </a:p>
          <a:p>
            <a:pPr lvl="0"/>
            <a:r>
              <a:rPr lang="ro-RO" sz="2400" dirty="0">
                <a:latin typeface="Calibri" panose="020F0502020204030204" pitchFamily="34" charset="0"/>
              </a:rPr>
              <a:t>Mașină virtual</a:t>
            </a:r>
            <a:r>
              <a:rPr lang="ro-RO" sz="2400" dirty="0"/>
              <a:t>ă – </a:t>
            </a:r>
            <a:r>
              <a:rPr lang="ro-RO" sz="2400" b="1" dirty="0"/>
              <a:t>DA (am utilizat Oracle VM </a:t>
            </a:r>
            <a:r>
              <a:rPr lang="ro-RO" sz="2400" b="1" dirty="0" err="1"/>
              <a:t>VirtualBox</a:t>
            </a:r>
            <a:r>
              <a:rPr lang="ro-RO" sz="2400" b="1" dirty="0"/>
              <a:t>) </a:t>
            </a:r>
          </a:p>
          <a:p>
            <a:pPr lvl="0"/>
            <a:endParaRPr lang="ro-RO" sz="2400" b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ro-RO" sz="2400">
                <a:latin typeface="Calibri" panose="020F0502020204030204" pitchFamily="34" charset="0"/>
              </a:rPr>
              <a:t>De </a:t>
            </a:r>
            <a:r>
              <a:rPr lang="ro-RO" sz="2400" dirty="0">
                <a:latin typeface="Calibri" panose="020F0502020204030204" pitchFamily="34" charset="0"/>
              </a:rPr>
              <a:t>asemenea, instalarea dependințelor necesare proiectului s-a realizat cu ajutorul comenzii:</a:t>
            </a:r>
            <a:br>
              <a:rPr lang="ro-RO" sz="2400" dirty="0">
                <a:latin typeface="Calibri" panose="020F0502020204030204" pitchFamily="34" charset="0"/>
              </a:rPr>
            </a:br>
            <a:r>
              <a:rPr lang="en-US" sz="2000" i="1" dirty="0"/>
              <a:t>pip install coverage </a:t>
            </a:r>
            <a:r>
              <a:rPr lang="en-US" sz="2000" i="1" dirty="0" err="1"/>
              <a:t>mutmut</a:t>
            </a:r>
            <a:r>
              <a:rPr lang="en-US" sz="2000" i="1" dirty="0"/>
              <a:t> --break-system-packages</a:t>
            </a:r>
          </a:p>
        </p:txBody>
      </p:sp>
    </p:spTree>
    <p:extLst>
      <p:ext uri="{BB962C8B-B14F-4D97-AF65-F5344CB8AC3E}">
        <p14:creationId xmlns:p14="http://schemas.microsoft.com/office/powerpoint/2010/main" val="343241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title="Aspect titlu și conținut cu diagramă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781"/>
          </a:xfrm>
        </p:spPr>
        <p:txBody>
          <a:bodyPr rtlCol="0"/>
          <a:lstStyle/>
          <a:p>
            <a:pPr rtl="0"/>
            <a:r>
              <a:rPr lang="ro-RO" dirty="0">
                <a:latin typeface="Calibri" panose="020F0502020204030204" pitchFamily="34" charset="0"/>
              </a:rPr>
              <a:t>Algoritmul testat - </a:t>
            </a:r>
            <a:r>
              <a:rPr lang="ro-RO" b="1" dirty="0" err="1">
                <a:latin typeface="Calibri" panose="020F0502020204030204" pitchFamily="34" charset="0"/>
              </a:rPr>
              <a:t>StringSearcher</a:t>
            </a:r>
            <a:endParaRPr lang="ro-RO" b="1" dirty="0">
              <a:latin typeface="Calibri" panose="020F0502020204030204" pitchFamily="34" charset="0"/>
            </a:endParaRP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269F27BF-3D85-77F3-7BCD-EEB7ACE73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/>
              <a:t>Specificația funcțională</a:t>
            </a:r>
          </a:p>
          <a:p>
            <a:pPr marL="0" indent="0">
              <a:buNone/>
            </a:pPr>
            <a:r>
              <a:rPr lang="ro-RO" sz="2000" dirty="0"/>
              <a:t>Pentru un întreg n aflat între 1 și 20, se introduce un șir text de exact n caractere, apoi un caracter c care este căutat în text. Programul returnează prima poziție pe care apare c (1-based) sau un mesaj indicând că nu a fost găsit. Utilizatorul poate continua căutarea ('y'/'Y') sau poate opri ('n'/'N’). Algoritmul reproduce exemplul folosit în suportul de curs, tocmai pentru a putea aplica metodologiile prezentate.</a:t>
            </a: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ro-RO" sz="2000" b="1" dirty="0"/>
              <a:t>Pre-condiții:</a:t>
            </a:r>
            <a:r>
              <a:rPr lang="en-GB" sz="2000" b="1" dirty="0"/>
              <a:t>                                                                             Post-</a:t>
            </a:r>
            <a:r>
              <a:rPr lang="en-GB" sz="2000" b="1" dirty="0" err="1"/>
              <a:t>condi</a:t>
            </a:r>
            <a:r>
              <a:rPr lang="ro-RO" sz="2000" b="1" dirty="0"/>
              <a:t>ții:</a:t>
            </a:r>
          </a:p>
          <a:p>
            <a:r>
              <a:rPr lang="en-GB" sz="2000" dirty="0"/>
              <a:t>n</a:t>
            </a:r>
            <a:r>
              <a:rPr lang="ro-RO" sz="2000" dirty="0"/>
              <a:t> întreg, 1</a:t>
            </a:r>
            <a:r>
              <a:rPr lang="en-GB" sz="2000" dirty="0"/>
              <a:t> &lt;= n &lt;= 20</a:t>
            </a:r>
            <a:r>
              <a:rPr lang="ro-RO" sz="2000" dirty="0"/>
              <a:t>                                                          </a:t>
            </a:r>
            <a:endParaRPr lang="en-GB" sz="2000" dirty="0"/>
          </a:p>
          <a:p>
            <a:r>
              <a:rPr lang="en-GB" sz="2000" dirty="0"/>
              <a:t>text de </a:t>
            </a:r>
            <a:r>
              <a:rPr lang="en-GB" sz="2000" dirty="0" err="1"/>
              <a:t>lungime</a:t>
            </a:r>
            <a:r>
              <a:rPr lang="en-GB" sz="2000" dirty="0"/>
              <a:t> exact n </a:t>
            </a:r>
          </a:p>
          <a:p>
            <a:r>
              <a:rPr lang="en-GB" sz="2000" dirty="0"/>
              <a:t>c string de </a:t>
            </a:r>
            <a:r>
              <a:rPr lang="en-GB" sz="2000" dirty="0" err="1"/>
              <a:t>lungime</a:t>
            </a:r>
            <a:r>
              <a:rPr lang="en-GB" sz="2000" dirty="0"/>
              <a:t> 1</a:t>
            </a:r>
          </a:p>
          <a:p>
            <a:r>
              <a:rPr lang="en-GB" sz="2000" dirty="0" err="1"/>
              <a:t>repeat_option</a:t>
            </a:r>
            <a:r>
              <a:rPr lang="en-GB" sz="2000" dirty="0"/>
              <a:t> = {‘n’, ‘N’, ‘y’, ‘Y’}</a:t>
            </a:r>
            <a:endParaRPr lang="ro-RO" sz="2000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EC7CBB19-E413-65AB-C395-26A3CD5F411E}"/>
              </a:ext>
            </a:extLst>
          </p:cNvPr>
          <p:cNvSpPr txBox="1"/>
          <p:nvPr/>
        </p:nvSpPr>
        <p:spPr>
          <a:xfrm>
            <a:off x="6559421" y="4329404"/>
            <a:ext cx="47943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Metoda 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search_character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(n, text, c, 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repeat_option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 întoarce un </a:t>
            </a:r>
            <a:r>
              <a:rPr lang="ro-RO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dicționar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cu cheile: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=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{‘OK’, ‘INVALID_N’, ‘INVALID_TEXT’, ‘INVALID_CHAR’}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pozi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ția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 apare c, altfel 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un mesaj descriptiv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continue_search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variabila de tip boolean</a:t>
            </a:r>
          </a:p>
        </p:txBody>
      </p:sp>
    </p:spTree>
    <p:extLst>
      <p:ext uri="{BB962C8B-B14F-4D97-AF65-F5344CB8AC3E}">
        <p14:creationId xmlns:p14="http://schemas.microsoft.com/office/powerpoint/2010/main" val="117709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 rtlCol="0"/>
          <a:lstStyle/>
          <a:p>
            <a:pPr rtl="0"/>
            <a:r>
              <a:rPr lang="ro-RO" dirty="0"/>
              <a:t>Diagramă CFG (graf de flux de control)</a:t>
            </a:r>
            <a:endParaRPr lang="ro-RO" dirty="0">
              <a:latin typeface="Calibri" panose="020F0502020204030204" pitchFamily="34" charset="0"/>
            </a:endParaRPr>
          </a:p>
        </p:txBody>
      </p:sp>
      <p:pic>
        <p:nvPicPr>
          <p:cNvPr id="9" name="Substituent conținut 8">
            <a:extLst>
              <a:ext uri="{FF2B5EF4-FFF2-40B4-BE49-F238E27FC236}">
                <a16:creationId xmlns:a16="http://schemas.microsoft.com/office/drawing/2014/main" id="{42F22AEC-4562-25C7-1AF7-400E7E6784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6" y="1371600"/>
            <a:ext cx="4259664" cy="5121275"/>
          </a:xfrm>
          <a:prstGeom prst="rect">
            <a:avLst/>
          </a:prstGeom>
        </p:spPr>
      </p:pic>
      <p:sp>
        <p:nvSpPr>
          <p:cNvPr id="5" name="Substituent conținut 4">
            <a:extLst>
              <a:ext uri="{FF2B5EF4-FFF2-40B4-BE49-F238E27FC236}">
                <a16:creationId xmlns:a16="http://schemas.microsoft.com/office/drawing/2014/main" id="{0B3678A7-45F0-26DB-A33F-11D577278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5262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600" dirty="0"/>
              <a:t>Numerotarea instrucțiunilor (corespondentă cu CFG-</a:t>
            </a:r>
            <a:r>
              <a:rPr lang="ro-RO" sz="1600" dirty="0" err="1"/>
              <a:t>ul</a:t>
            </a:r>
            <a:r>
              <a:rPr lang="ro-RO" sz="1600" dirty="0"/>
              <a:t> din curs):</a:t>
            </a:r>
          </a:p>
          <a:p>
            <a:pPr marL="0" indent="0">
              <a:buNone/>
            </a:pPr>
            <a:r>
              <a:rPr lang="ro-RO" sz="1600" dirty="0"/>
              <a:t>            1-3: Citire si validare n (do-</a:t>
            </a:r>
            <a:r>
              <a:rPr lang="ro-RO" sz="1600" dirty="0" err="1"/>
              <a:t>while</a:t>
            </a:r>
            <a:r>
              <a:rPr lang="ro-RO" sz="1600" dirty="0"/>
              <a:t> echivalent)</a:t>
            </a:r>
          </a:p>
          <a:p>
            <a:pPr marL="0" indent="0">
              <a:buNone/>
            </a:pPr>
            <a:r>
              <a:rPr lang="ro-RO" sz="1600" dirty="0"/>
              <a:t>            4:   </a:t>
            </a:r>
            <a:r>
              <a:rPr lang="ro-RO" sz="1600" dirty="0" err="1"/>
              <a:t>while</a:t>
            </a:r>
            <a:r>
              <a:rPr lang="ro-RO" sz="1600" dirty="0"/>
              <a:t> (n &lt; 1 || n &gt; 20)</a:t>
            </a:r>
          </a:p>
          <a:p>
            <a:pPr marL="0" indent="0">
              <a:buNone/>
            </a:pPr>
            <a:r>
              <a:rPr lang="ro-RO" sz="1600" dirty="0"/>
              <a:t>            5:   </a:t>
            </a:r>
            <a:r>
              <a:rPr lang="ro-RO" sz="1600" dirty="0" err="1"/>
              <a:t>afisare</a:t>
            </a:r>
            <a:r>
              <a:rPr lang="ro-RO" sz="1600" dirty="0"/>
              <a:t> prompt</a:t>
            </a:r>
          </a:p>
          <a:p>
            <a:pPr marL="0" indent="0">
              <a:buNone/>
            </a:pPr>
            <a:r>
              <a:rPr lang="ro-RO" sz="1600" dirty="0"/>
              <a:t>            6:   for i = 0; i &lt; n; i++</a:t>
            </a:r>
          </a:p>
          <a:p>
            <a:pPr marL="0" indent="0">
              <a:buNone/>
            </a:pPr>
            <a:r>
              <a:rPr lang="ro-RO" sz="1600" dirty="0"/>
              <a:t>            7:     citire caracter in a[i]</a:t>
            </a:r>
          </a:p>
          <a:p>
            <a:pPr marL="0" indent="0">
              <a:buNone/>
            </a:pPr>
            <a:r>
              <a:rPr lang="ro-RO" sz="1600" dirty="0"/>
              <a:t>            8:   citire </a:t>
            </a:r>
            <a:r>
              <a:rPr lang="ro-RO" sz="1600" dirty="0" err="1"/>
              <a:t>newline</a:t>
            </a:r>
            <a:endParaRPr lang="ro-RO" sz="1600" dirty="0"/>
          </a:p>
          <a:p>
            <a:pPr marL="0" indent="0">
              <a:buNone/>
            </a:pPr>
            <a:r>
              <a:rPr lang="ro-RO" sz="1600" dirty="0"/>
              <a:t>            9-13: do { ... ; </a:t>
            </a:r>
            <a:r>
              <a:rPr lang="ro-RO" sz="1600" dirty="0" err="1"/>
              <a:t>found</a:t>
            </a:r>
            <a:r>
              <a:rPr lang="ro-RO" sz="1600" dirty="0"/>
              <a:t> = false</a:t>
            </a:r>
          </a:p>
          <a:p>
            <a:pPr marL="0" indent="0">
              <a:buNone/>
            </a:pPr>
            <a:r>
              <a:rPr lang="ro-RO" sz="1600" dirty="0"/>
              <a:t>            14:   for(i=0; !</a:t>
            </a:r>
            <a:r>
              <a:rPr lang="ro-RO" sz="1600" dirty="0" err="1"/>
              <a:t>found</a:t>
            </a:r>
            <a:r>
              <a:rPr lang="ro-RO" sz="1600" dirty="0"/>
              <a:t> &amp;&amp; i&lt;n; i++)</a:t>
            </a:r>
          </a:p>
          <a:p>
            <a:pPr marL="0" indent="0">
              <a:buNone/>
            </a:pPr>
            <a:r>
              <a:rPr lang="ro-RO" sz="1600" dirty="0"/>
              <a:t>            15:     </a:t>
            </a:r>
            <a:r>
              <a:rPr lang="ro-RO" sz="1600" dirty="0" err="1"/>
              <a:t>if</a:t>
            </a:r>
            <a:r>
              <a:rPr lang="ro-RO" sz="1600" dirty="0"/>
              <a:t>(a[i] == c)</a:t>
            </a:r>
          </a:p>
          <a:p>
            <a:pPr marL="0" indent="0">
              <a:buNone/>
            </a:pPr>
            <a:r>
              <a:rPr lang="ro-RO" sz="1600" dirty="0"/>
              <a:t>            16:       </a:t>
            </a:r>
            <a:r>
              <a:rPr lang="ro-RO" sz="1600" dirty="0" err="1"/>
              <a:t>found</a:t>
            </a:r>
            <a:r>
              <a:rPr lang="ro-RO" sz="1600" dirty="0"/>
              <a:t> = </a:t>
            </a:r>
            <a:r>
              <a:rPr lang="ro-RO" sz="1600" dirty="0" err="1"/>
              <a:t>true</a:t>
            </a:r>
            <a:endParaRPr lang="ro-RO" sz="1600" dirty="0"/>
          </a:p>
          <a:p>
            <a:pPr marL="0" indent="0">
              <a:buNone/>
            </a:pPr>
            <a:r>
              <a:rPr lang="ro-RO" sz="1600" dirty="0"/>
              <a:t>            17:   </a:t>
            </a:r>
            <a:r>
              <a:rPr lang="ro-RO" sz="1600" dirty="0" err="1"/>
              <a:t>if</a:t>
            </a:r>
            <a:r>
              <a:rPr lang="ro-RO" sz="1600" dirty="0"/>
              <a:t>(</a:t>
            </a:r>
            <a:r>
              <a:rPr lang="ro-RO" sz="1600" dirty="0" err="1"/>
              <a:t>found</a:t>
            </a:r>
            <a:r>
              <a:rPr lang="ro-RO" sz="1600" dirty="0"/>
              <a:t>)</a:t>
            </a:r>
          </a:p>
          <a:p>
            <a:pPr marL="0" indent="0">
              <a:buNone/>
            </a:pPr>
            <a:r>
              <a:rPr lang="ro-RO" sz="1600" dirty="0"/>
              <a:t>            18:     </a:t>
            </a:r>
            <a:r>
              <a:rPr lang="ro-RO" sz="1600" dirty="0" err="1"/>
              <a:t>afisare</a:t>
            </a:r>
            <a:r>
              <a:rPr lang="ro-RO" sz="1600" dirty="0"/>
              <a:t> </a:t>
            </a:r>
            <a:r>
              <a:rPr lang="ro-RO" sz="1600" dirty="0" err="1"/>
              <a:t>pozitie</a:t>
            </a:r>
            <a:endParaRPr lang="ro-RO" sz="1600" dirty="0"/>
          </a:p>
          <a:p>
            <a:pPr marL="0" indent="0">
              <a:buNone/>
            </a:pPr>
            <a:r>
              <a:rPr lang="ro-RO" sz="1600" dirty="0"/>
              <a:t>            19-20: </a:t>
            </a:r>
            <a:r>
              <a:rPr lang="ro-RO" sz="1600" dirty="0" err="1"/>
              <a:t>else</a:t>
            </a:r>
            <a:r>
              <a:rPr lang="ro-RO" sz="1600" dirty="0"/>
              <a:t> </a:t>
            </a:r>
            <a:r>
              <a:rPr lang="ro-RO" sz="1600" dirty="0" err="1"/>
              <a:t>afisare</a:t>
            </a:r>
            <a:r>
              <a:rPr lang="ro-RO" sz="1600" dirty="0"/>
              <a:t> nu apare</a:t>
            </a:r>
          </a:p>
          <a:p>
            <a:pPr marL="0" indent="0">
              <a:buNone/>
            </a:pPr>
            <a:r>
              <a:rPr lang="ro-RO" sz="1600" dirty="0"/>
              <a:t>            21-23: prompt continuare + citire </a:t>
            </a:r>
            <a:r>
              <a:rPr lang="ro-RO" sz="1600" dirty="0" err="1"/>
              <a:t>raspuns</a:t>
            </a:r>
            <a:endParaRPr lang="ro-RO" sz="1600" dirty="0"/>
          </a:p>
          <a:p>
            <a:pPr marL="0" indent="0">
              <a:buNone/>
            </a:pPr>
            <a:r>
              <a:rPr lang="ro-RO" sz="1600" dirty="0"/>
              <a:t>            24:   } </a:t>
            </a:r>
            <a:r>
              <a:rPr lang="ro-RO" sz="1600" dirty="0" err="1"/>
              <a:t>while</a:t>
            </a:r>
            <a:r>
              <a:rPr lang="ro-RO" sz="1600" dirty="0"/>
              <a:t> ((</a:t>
            </a:r>
            <a:r>
              <a:rPr lang="ro-RO" sz="1600" dirty="0" err="1"/>
              <a:t>response</a:t>
            </a:r>
            <a:r>
              <a:rPr lang="ro-RO" sz="1600" dirty="0"/>
              <a:t> == 'y') || (</a:t>
            </a:r>
            <a:r>
              <a:rPr lang="ro-RO" sz="1600" dirty="0" err="1"/>
              <a:t>response</a:t>
            </a:r>
            <a:r>
              <a:rPr lang="ro-RO" sz="1600" dirty="0"/>
              <a:t> == 'Y'))</a:t>
            </a:r>
          </a:p>
          <a:p>
            <a:pPr marL="0" indent="0">
              <a:buNone/>
            </a:pPr>
            <a:r>
              <a:rPr lang="ro-RO" sz="1600" dirty="0"/>
              <a:t>            25:   </a:t>
            </a:r>
            <a:r>
              <a:rPr lang="ro-RO" sz="1600" dirty="0" err="1"/>
              <a:t>end</a:t>
            </a:r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244838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781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>
                <a:latin typeface="Calibri" panose="020F0502020204030204" pitchFamily="34" charset="0"/>
              </a:rPr>
              <a:t>Strategii de testare – funcționale și structurale</a:t>
            </a: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61C9E597-77CC-DE8F-941F-81F7986EC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219830"/>
              </p:ext>
            </p:extLst>
          </p:nvPr>
        </p:nvGraphicFramePr>
        <p:xfrm>
          <a:off x="933061" y="1674584"/>
          <a:ext cx="10217022" cy="4038496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405674">
                  <a:extLst>
                    <a:ext uri="{9D8B030D-6E8A-4147-A177-3AD203B41FA5}">
                      <a16:colId xmlns:a16="http://schemas.microsoft.com/office/drawing/2014/main" val="198781746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3475320825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143508050"/>
                    </a:ext>
                  </a:extLst>
                </a:gridCol>
              </a:tblGrid>
              <a:tr h="781024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Strategie aplicată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Utilizare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Număr de teste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508567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Equivalence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Partitioning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 test_01</a:t>
                      </a:r>
                    </a:p>
                    <a:p>
                      <a:endParaRPr lang="ro-RO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Clase de echivalență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156220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Boundary Value Analysis — test_02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Valori de frontieră (n=0, 1, 20, 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825442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Statement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Coverage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 test_03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Execuția fiecărei linii de cod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923409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Decision/Branch Coverage — test_04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Acoperirea ramurilor (decizii)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84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28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u 1">
            <a:extLst>
              <a:ext uri="{FF2B5EF4-FFF2-40B4-BE49-F238E27FC236}">
                <a16:creationId xmlns:a16="http://schemas.microsoft.com/office/drawing/2014/main" id="{775B53E3-FAE3-1425-40AD-5AB8B80A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781"/>
          </a:xfrm>
        </p:spPr>
        <p:txBody>
          <a:bodyPr rtlCol="0">
            <a:normAutofit fontScale="90000"/>
          </a:bodyPr>
          <a:lstStyle/>
          <a:p>
            <a:r>
              <a:rPr lang="ro-RO" dirty="0">
                <a:latin typeface="Calibri" panose="020F0502020204030204" pitchFamily="34" charset="0"/>
              </a:rPr>
              <a:t>Strategii de </a:t>
            </a:r>
            <a:r>
              <a:rPr lang="ro-RO" dirty="0"/>
              <a:t>testare – structurale, auxiliară și </a:t>
            </a:r>
            <a:r>
              <a:rPr lang="ro-RO" dirty="0" err="1"/>
              <a:t>mutmut</a:t>
            </a:r>
            <a:endParaRPr lang="ro-RO" dirty="0">
              <a:latin typeface="Calibri" panose="020F0502020204030204" pitchFamily="34" charset="0"/>
            </a:endParaRP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49ED7146-0E4E-AA65-A7E1-D7FFC8297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0234"/>
              </p:ext>
            </p:extLst>
          </p:nvPr>
        </p:nvGraphicFramePr>
        <p:xfrm>
          <a:off x="905069" y="1814544"/>
          <a:ext cx="10217022" cy="39051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405674">
                  <a:extLst>
                    <a:ext uri="{9D8B030D-6E8A-4147-A177-3AD203B41FA5}">
                      <a16:colId xmlns:a16="http://schemas.microsoft.com/office/drawing/2014/main" val="198781746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3475320825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143508050"/>
                    </a:ext>
                  </a:extLst>
                </a:gridCol>
              </a:tblGrid>
              <a:tr h="781024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Strategie aplicată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Utilizare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Număr de teste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508567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Coverage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 test_05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Condiții individuale (OR/AND)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156220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Independent </a:t>
                      </a: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Circuits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 test_06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Circuite de bază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825442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Teste auxiliare — test_07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Validare n și istoric căutări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923409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Mutation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o-RO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killers</a:t>
                      </a:r>
                      <a:r>
                        <a:rPr lang="ro-RO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 test_08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Omorârea mutanților neechivalenți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84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98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1E940E-8401-19B4-D53D-3F0C9162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</a:t>
            </a:r>
            <a:r>
              <a:rPr lang="ro-RO" dirty="0" err="1"/>
              <a:t>coverage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3951047-C1EB-D7C7-458B-37AF7BF1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Comenzile pentru rulare:</a:t>
            </a:r>
          </a:p>
          <a:p>
            <a:pPr>
              <a:buFontTx/>
              <a:buChar char="-"/>
            </a:pPr>
            <a:r>
              <a:rPr lang="en-US" sz="1800" i="1" dirty="0"/>
              <a:t>coverage run --source=. --omit="tests/*,mutants/*,*setup*" --branch -m </a:t>
            </a:r>
            <a:r>
              <a:rPr lang="en-US" sz="1800" i="1" dirty="0" err="1"/>
              <a:t>unittest</a:t>
            </a:r>
            <a:r>
              <a:rPr lang="en-US" sz="1800" i="1" dirty="0"/>
              <a:t> discover -s tests</a:t>
            </a:r>
            <a:endParaRPr lang="ro-RO" sz="1800" i="1" dirty="0"/>
          </a:p>
          <a:p>
            <a:pPr>
              <a:buFontTx/>
              <a:buChar char="-"/>
            </a:pPr>
            <a:r>
              <a:rPr lang="ro-RO" sz="1800" i="1" dirty="0" err="1"/>
              <a:t>coverage</a:t>
            </a:r>
            <a:r>
              <a:rPr lang="ro-RO" sz="1800" i="1" dirty="0"/>
              <a:t> report –m</a:t>
            </a:r>
          </a:p>
          <a:p>
            <a:pPr>
              <a:buFontTx/>
              <a:buChar char="-"/>
            </a:pPr>
            <a:endParaRPr lang="ro-RO" sz="1800" i="1" dirty="0"/>
          </a:p>
          <a:p>
            <a:pPr marL="0" indent="0">
              <a:buNone/>
            </a:pPr>
            <a:endParaRPr lang="en-US" sz="1800" i="1" dirty="0"/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075A7FB-19E1-C58A-6462-730EDB38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980259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9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00C84D4-2D24-82BF-0B15-2661A1A0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3128"/>
          </a:xfrm>
        </p:spPr>
        <p:txBody>
          <a:bodyPr/>
          <a:lstStyle/>
          <a:p>
            <a:r>
              <a:rPr lang="ro-RO" dirty="0" err="1"/>
              <a:t>Mutation</a:t>
            </a:r>
            <a:r>
              <a:rPr lang="ro-RO" dirty="0"/>
              <a:t> </a:t>
            </a:r>
            <a:r>
              <a:rPr lang="ro-RO" dirty="0" err="1"/>
              <a:t>testing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A2E1D79-3DB7-0482-2330-64E0C7716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794"/>
            <a:ext cx="10515600" cy="5353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/>
              <a:t>Utilizarea </a:t>
            </a:r>
            <a:r>
              <a:rPr lang="ro-RO" sz="2000" b="1" dirty="0" err="1"/>
              <a:t>Mutmut</a:t>
            </a:r>
            <a:r>
              <a:rPr lang="ro-RO" sz="2000" dirty="0"/>
              <a:t> pentru a evalua calitatea testelor prin injectarea de erori în cod. Procesul presupune:</a:t>
            </a:r>
          </a:p>
          <a:p>
            <a:r>
              <a:rPr lang="ro-RO" sz="2000" dirty="0"/>
              <a:t>Generare automată de mutanți (101).</a:t>
            </a:r>
          </a:p>
          <a:p>
            <a:r>
              <a:rPr lang="ro-RO" sz="2000" dirty="0"/>
              <a:t>Rularea suitei </a:t>
            </a:r>
            <a:r>
              <a:rPr lang="ro-RO" sz="2000" dirty="0" err="1"/>
              <a:t>Unittest</a:t>
            </a:r>
            <a:r>
              <a:rPr lang="ro-RO" sz="2000" dirty="0"/>
              <a:t> asupra mutanților.</a:t>
            </a:r>
          </a:p>
          <a:p>
            <a:r>
              <a:rPr lang="ro-RO" sz="2000" dirty="0"/>
              <a:t>Identificarea mutanților care supraviețuiesc.</a:t>
            </a: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ro-RO" sz="2000" dirty="0"/>
              <a:t>Rezultate inițiale:                                                                          Rezultate după testele suplimentare: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ro-RO" sz="2400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2B488B53-EE9A-98F3-B53E-48851270F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283725"/>
              </p:ext>
            </p:extLst>
          </p:nvPr>
        </p:nvGraphicFramePr>
        <p:xfrm>
          <a:off x="922174" y="3851210"/>
          <a:ext cx="4442928" cy="21031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21464">
                  <a:extLst>
                    <a:ext uri="{9D8B030D-6E8A-4147-A177-3AD203B41FA5}">
                      <a16:colId xmlns:a16="http://schemas.microsoft.com/office/drawing/2014/main" val="3837368882"/>
                    </a:ext>
                  </a:extLst>
                </a:gridCol>
                <a:gridCol w="2221464">
                  <a:extLst>
                    <a:ext uri="{9D8B030D-6E8A-4147-A177-3AD203B41FA5}">
                      <a16:colId xmlns:a16="http://schemas.microsoft.com/office/drawing/2014/main" val="1716481661"/>
                    </a:ext>
                  </a:extLst>
                </a:gridCol>
              </a:tblGrid>
              <a:tr h="340975">
                <a:tc>
                  <a:txBody>
                    <a:bodyPr/>
                    <a:lstStyle/>
                    <a:p>
                      <a:r>
                        <a:rPr lang="ro-RO" dirty="0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Număr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522001"/>
                  </a:ext>
                </a:extLst>
              </a:tr>
              <a:tr h="340975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Mutanți generați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388399"/>
                  </a:ext>
                </a:extLst>
              </a:tr>
              <a:tr h="340975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Omorâți (</a:t>
                      </a:r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killed</a:t>
                      </a:r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532776"/>
                  </a:ext>
                </a:extLst>
              </a:tr>
              <a:tr h="588532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Supraviețuitori (</a:t>
                      </a:r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survived</a:t>
                      </a:r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111480"/>
                  </a:ext>
                </a:extLst>
              </a:tr>
              <a:tr h="340975">
                <a:tc>
                  <a:txBody>
                    <a:bodyPr/>
                    <a:lstStyle/>
                    <a:p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Timeout</a:t>
                      </a:r>
                      <a:endParaRPr lang="ro-RO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150145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9C70B10-6E64-3F71-34A6-2F1A627C5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56969"/>
              </p:ext>
            </p:extLst>
          </p:nvPr>
        </p:nvGraphicFramePr>
        <p:xfrm>
          <a:off x="6924868" y="3851210"/>
          <a:ext cx="4512906" cy="210924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56453">
                  <a:extLst>
                    <a:ext uri="{9D8B030D-6E8A-4147-A177-3AD203B41FA5}">
                      <a16:colId xmlns:a16="http://schemas.microsoft.com/office/drawing/2014/main" val="3837368882"/>
                    </a:ext>
                  </a:extLst>
                </a:gridCol>
                <a:gridCol w="2256453">
                  <a:extLst>
                    <a:ext uri="{9D8B030D-6E8A-4147-A177-3AD203B41FA5}">
                      <a16:colId xmlns:a16="http://schemas.microsoft.com/office/drawing/2014/main" val="1716481661"/>
                    </a:ext>
                  </a:extLst>
                </a:gridCol>
              </a:tblGrid>
              <a:tr h="367291">
                <a:tc>
                  <a:txBody>
                    <a:bodyPr/>
                    <a:lstStyle/>
                    <a:p>
                      <a:r>
                        <a:rPr lang="ro-RO" dirty="0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Număr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522001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Mutanți generați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388399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Omorâți (</a:t>
                      </a:r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killed</a:t>
                      </a:r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532776"/>
                  </a:ext>
                </a:extLst>
              </a:tr>
              <a:tr h="633955"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Supraviețuitori (</a:t>
                      </a:r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survived</a:t>
                      </a:r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111480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r>
                        <a:rPr lang="ro-RO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Timeout</a:t>
                      </a:r>
                      <a:endParaRPr lang="ro-RO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150145"/>
                  </a:ext>
                </a:extLst>
              </a:tr>
            </a:tbl>
          </a:graphicData>
        </a:graphic>
      </p:graphicFrame>
      <p:sp>
        <p:nvSpPr>
          <p:cNvPr id="8" name="CasetăText 7">
            <a:extLst>
              <a:ext uri="{FF2B5EF4-FFF2-40B4-BE49-F238E27FC236}">
                <a16:creationId xmlns:a16="http://schemas.microsoft.com/office/drawing/2014/main" id="{12DD1CCC-5D5E-1687-2C40-B2ABFCCE38D3}"/>
              </a:ext>
            </a:extLst>
          </p:cNvPr>
          <p:cNvSpPr txBox="1"/>
          <p:nvPr/>
        </p:nvSpPr>
        <p:spPr>
          <a:xfrm>
            <a:off x="838200" y="6123542"/>
            <a:ext cx="346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Scor: 71/100 ≈ 71%	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52619F74-83F5-C477-62A3-56C925B9BEC1}"/>
              </a:ext>
            </a:extLst>
          </p:cNvPr>
          <p:cNvSpPr txBox="1"/>
          <p:nvPr/>
        </p:nvSpPr>
        <p:spPr>
          <a:xfrm>
            <a:off x="6924868" y="6132858"/>
            <a:ext cx="346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Scor: 75/100 ≈ 75%	</a:t>
            </a:r>
          </a:p>
        </p:txBody>
      </p:sp>
    </p:spTree>
    <p:extLst>
      <p:ext uri="{BB962C8B-B14F-4D97-AF65-F5344CB8AC3E}">
        <p14:creationId xmlns:p14="http://schemas.microsoft.com/office/powerpoint/2010/main" val="120801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8149D2-722C-5341-9912-4F9DB41A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92"/>
            <a:ext cx="10515600" cy="876560"/>
          </a:xfrm>
        </p:spPr>
        <p:txBody>
          <a:bodyPr/>
          <a:lstStyle/>
          <a:p>
            <a:r>
              <a:rPr lang="en-GB" dirty="0" err="1"/>
              <a:t>Raport</a:t>
            </a:r>
            <a:r>
              <a:rPr lang="en-GB" dirty="0"/>
              <a:t> AI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4DBDAA3-FCE2-ECAE-9715-A631091E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376"/>
            <a:ext cx="10515600" cy="555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000" dirty="0"/>
              <a:t>Se g</a:t>
            </a:r>
            <a:r>
              <a:rPr lang="ro-RO" sz="2000" dirty="0" err="1"/>
              <a:t>ăsește</a:t>
            </a:r>
            <a:r>
              <a:rPr lang="ro-RO" sz="2000" dirty="0"/>
              <a:t> pe </a:t>
            </a:r>
            <a:r>
              <a:rPr lang="ro-RO" sz="2000" dirty="0" err="1"/>
              <a:t>GitHub</a:t>
            </a:r>
            <a:r>
              <a:rPr lang="ro-RO" sz="2000" dirty="0"/>
              <a:t>, în </a:t>
            </a:r>
            <a:r>
              <a:rPr lang="ro-RO" sz="2000" dirty="0" err="1"/>
              <a:t>folderul</a:t>
            </a:r>
            <a:r>
              <a:rPr lang="ro-RO" sz="2000" dirty="0"/>
              <a:t> </a:t>
            </a:r>
            <a:r>
              <a:rPr lang="ro-RO" sz="2000" dirty="0" err="1"/>
              <a:t>docs</a:t>
            </a:r>
            <a:r>
              <a:rPr lang="ro-RO" sz="2000" dirty="0"/>
              <a:t>: </a:t>
            </a:r>
            <a:r>
              <a:rPr lang="ro-RO" sz="2000" dirty="0">
                <a:hlinkClick r:id="rId2"/>
              </a:rPr>
              <a:t>https://github.com/AndreiCopilau/testarea-sistemelor-software/blob/main/docs/ai_report.md</a:t>
            </a:r>
            <a:endParaRPr lang="ro-RO" sz="2000" dirty="0"/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ro-RO" sz="2000" dirty="0"/>
              <a:t>   Acest raport documentează o analiză comparativă între o suită de teste unitare generată automat de inteligența artificială (</a:t>
            </a:r>
            <a:r>
              <a:rPr lang="ro-RO" sz="2000" b="1" dirty="0" err="1"/>
              <a:t>Gemini</a:t>
            </a:r>
            <a:r>
              <a:rPr lang="ro-RO" sz="2000" b="1" dirty="0"/>
              <a:t> – Google AI Pro</a:t>
            </a:r>
            <a:r>
              <a:rPr lang="ro-RO" sz="2000" dirty="0"/>
              <a:t>) și suita proprie dezvoltată pe baza strategiilor din suportul de curs. Scopul a fost evaluarea capabilităților AI-ului în raport cu metodologiile academice stricte (Testare Funcțională și Structurală).</a:t>
            </a: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ro-RO" sz="2000" dirty="0"/>
              <a:t>Aspecte cheie evidențiate în raport:</a:t>
            </a:r>
          </a:p>
          <a:p>
            <a:r>
              <a:rPr lang="ro-RO" sz="2000" b="1" dirty="0"/>
              <a:t>Eficiență versus rigoare:</a:t>
            </a:r>
            <a:r>
              <a:rPr lang="ro-RO" sz="2000" dirty="0"/>
              <a:t> Prin adăugarea constrângerilor de testare funcțională și structurală în prompt, AI-</a:t>
            </a:r>
            <a:r>
              <a:rPr lang="ro-RO" sz="2000" dirty="0" err="1"/>
              <a:t>ul</a:t>
            </a:r>
            <a:r>
              <a:rPr lang="ro-RO" sz="2000" dirty="0"/>
              <a:t> a evoluat de la un simplu schelet de bază la o suită extinsă de aproximativ </a:t>
            </a:r>
            <a:r>
              <a:rPr lang="ro-RO" sz="2000" b="1" dirty="0"/>
              <a:t>42 de teste</a:t>
            </a:r>
            <a:r>
              <a:rPr lang="ro-RO" sz="2000" dirty="0"/>
              <a:t>, optimizând masiv timpul de scriere pentru cazurile standard.</a:t>
            </a:r>
          </a:p>
          <a:p>
            <a:r>
              <a:rPr lang="ro-RO" sz="2000" b="1" dirty="0"/>
              <a:t>Aliniere aproape completă pe acoperire (</a:t>
            </a:r>
            <a:r>
              <a:rPr lang="ro-RO" sz="2000" b="1" dirty="0" err="1"/>
              <a:t>Coverage</a:t>
            </a:r>
            <a:r>
              <a:rPr lang="ro-RO" sz="2000" b="1" dirty="0"/>
              <a:t>):</a:t>
            </a:r>
            <a:r>
              <a:rPr lang="ro-RO" sz="2000" dirty="0"/>
              <a:t> Suita generată de AI a atins o acoperire integrală de </a:t>
            </a:r>
            <a:r>
              <a:rPr lang="ro-RO" sz="2000" b="1" dirty="0"/>
              <a:t>100% pe instrucțiuni</a:t>
            </a:r>
            <a:r>
              <a:rPr lang="ro-RO" sz="2000" dirty="0"/>
              <a:t> (</a:t>
            </a:r>
            <a:r>
              <a:rPr lang="ro-RO" sz="2000" dirty="0" err="1"/>
              <a:t>Statement</a:t>
            </a:r>
            <a:r>
              <a:rPr lang="ro-RO" sz="2000" dirty="0"/>
              <a:t> </a:t>
            </a:r>
            <a:r>
              <a:rPr lang="ro-RO" sz="2000" dirty="0" err="1"/>
              <a:t>Coverage</a:t>
            </a:r>
            <a:r>
              <a:rPr lang="ro-RO" sz="2000" dirty="0"/>
              <a:t>) și de </a:t>
            </a:r>
            <a:r>
              <a:rPr lang="ro-RO" sz="2000" b="1" dirty="0"/>
              <a:t>~95% pe ramificații</a:t>
            </a:r>
            <a:r>
              <a:rPr lang="ro-RO" sz="2000" dirty="0"/>
              <a:t>, fiind foarte aproape de rigoarea suitei manuale (100% integral) datorită izolării corecte a claselor de echivalență și a valorilor de frontieră.</a:t>
            </a:r>
          </a:p>
          <a:p>
            <a:r>
              <a:rPr lang="ro-RO" sz="2000" b="1" dirty="0"/>
              <a:t>Vulnerabilitate scăzută la mutanți :</a:t>
            </a:r>
            <a:r>
              <a:rPr lang="ro-RO" sz="2000" dirty="0"/>
              <a:t> Deși AI-</a:t>
            </a:r>
            <a:r>
              <a:rPr lang="ro-RO" sz="2000" dirty="0" err="1"/>
              <a:t>ul</a:t>
            </a:r>
            <a:r>
              <a:rPr lang="ro-RO" sz="2000" dirty="0"/>
              <a:t> a inclus aserțiuni mai riguroase, scorul său de mutație rămâne plafonat la </a:t>
            </a:r>
            <a:r>
              <a:rPr lang="ro-RO" sz="2000" b="1" dirty="0"/>
              <a:t>~62%</a:t>
            </a:r>
            <a:r>
              <a:rPr lang="ro-RO" sz="2000" dirty="0"/>
              <a:t>. Suita manuală își păstrează avansul de </a:t>
            </a:r>
            <a:r>
              <a:rPr lang="ro-RO" sz="2000" b="1" dirty="0"/>
              <a:t>75%</a:t>
            </a:r>
            <a:r>
              <a:rPr lang="ro-RO" sz="2000" dirty="0"/>
              <a:t> deoarece introduce validări stricte pe conținutul exact al mesajelor, eliminând mutanții care supraviețuiesc aserțiunilor generice.</a:t>
            </a:r>
          </a:p>
          <a:p>
            <a:r>
              <a:rPr lang="ro-RO" sz="2000" b="1" dirty="0"/>
              <a:t>Concluzia principală:</a:t>
            </a:r>
            <a:r>
              <a:rPr lang="ro-RO" sz="2000" dirty="0"/>
              <a:t> Instrumentele AI acționează ca un excelent </a:t>
            </a:r>
            <a:r>
              <a:rPr lang="ro-RO" sz="2000" b="1" dirty="0"/>
              <a:t>multiplicator de productivitate</a:t>
            </a:r>
            <a:r>
              <a:rPr lang="ro-RO" sz="2000" dirty="0"/>
              <a:t> pentru scrierea rapidă a structurii de bază, însă intervenția umană rămâne critică pentru rafinarea aserțiunilor prin </a:t>
            </a:r>
            <a:r>
              <a:rPr lang="ro-RO" sz="2000" i="1" dirty="0" err="1"/>
              <a:t>Mutation</a:t>
            </a:r>
            <a:r>
              <a:rPr lang="ro-RO" sz="2000" i="1" dirty="0"/>
              <a:t> </a:t>
            </a:r>
            <a:r>
              <a:rPr lang="ro-RO" sz="2000" i="1" dirty="0" err="1"/>
              <a:t>Testing</a:t>
            </a:r>
            <a:r>
              <a:rPr lang="ro-RO" sz="2000" dirty="0"/>
              <a:t> </a:t>
            </a:r>
            <a:r>
              <a:rPr lang="ro-RO" sz="2000" dirty="0" err="1"/>
              <a:t>proactiv</a:t>
            </a:r>
            <a:r>
              <a:rPr lang="ro-RO" sz="2000" dirty="0"/>
              <a:t> și pentru analiza circuitelor logice independente, complexe.</a:t>
            </a:r>
          </a:p>
          <a:p>
            <a:pPr marL="0" indent="0">
              <a:buNone/>
            </a:pP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2863529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B08AC6-7595-0AE3-B4D4-4F445EF6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o-RO" sz="4800" dirty="0"/>
              <a:t>Vă mulțumim pentru atenție!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480830AD-7F93-D4F3-876B-0B1278934532}"/>
              </a:ext>
            </a:extLst>
          </p:cNvPr>
          <p:cNvSpPr txBox="1"/>
          <p:nvPr/>
        </p:nvSpPr>
        <p:spPr>
          <a:xfrm>
            <a:off x="3508309" y="3092325"/>
            <a:ext cx="516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T1 </a:t>
            </a:r>
            <a:r>
              <a:rPr lang="ro-R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Testare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unitar</a:t>
            </a:r>
            <a:r>
              <a:rPr lang="ro-R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 în </a:t>
            </a:r>
            <a:r>
              <a:rPr lang="ro-RO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endParaRPr lang="ro-RO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D0519B7B-0B12-4CB8-4345-43C03D1B6779}"/>
              </a:ext>
            </a:extLst>
          </p:cNvPr>
          <p:cNvSpPr txBox="1"/>
          <p:nvPr/>
        </p:nvSpPr>
        <p:spPr>
          <a:xfrm>
            <a:off x="93306" y="5978403"/>
            <a:ext cx="4068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https://github.com/AndreiCopilau/testarea-sistemelor-software.git</a:t>
            </a:r>
          </a:p>
        </p:txBody>
      </p:sp>
    </p:spTree>
    <p:extLst>
      <p:ext uri="{BB962C8B-B14F-4D97-AF65-F5344CB8AC3E}">
        <p14:creationId xmlns:p14="http://schemas.microsoft.com/office/powerpoint/2010/main" val="2412526618"/>
      </p:ext>
    </p:extLst>
  </p:cSld>
  <p:clrMapOvr>
    <a:masterClrMapping/>
  </p:clrMapOvr>
</p:sld>
</file>

<file path=ppt/theme/theme1.xml><?xml version="1.0" encoding="utf-8"?>
<a:theme xmlns:a="http://schemas.openxmlformats.org/drawingml/2006/main" name="Șablon formă abstract - melanc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6713815_TF03460530" id="{7C1293F6-F328-4EE1-85A7-FA7778B331CC}" vid="{9A2598BF-5F9D-485C-86B3-6E8C6A544A50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Diapozitive formă abstracte - melancolie</Template>
  <TotalTime>135</TotalTime>
  <Words>1022</Words>
  <Application>Microsoft Office PowerPoint</Application>
  <PresentationFormat>Ecran lat</PresentationFormat>
  <Paragraphs>135</Paragraphs>
  <Slides>10</Slides>
  <Notes>5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3" baseType="lpstr">
      <vt:lpstr>Arial</vt:lpstr>
      <vt:lpstr>Calibri</vt:lpstr>
      <vt:lpstr>Șablon formă abstract - melancolie</vt:lpstr>
      <vt:lpstr>Proiect Testarea sistemelor software</vt:lpstr>
      <vt:lpstr>Configurația folosită</vt:lpstr>
      <vt:lpstr>Algoritmul testat - StringSearcher</vt:lpstr>
      <vt:lpstr>Diagramă CFG (graf de flux de control)</vt:lpstr>
      <vt:lpstr>Strategii de testare – funcționale și structurale</vt:lpstr>
      <vt:lpstr>Strategii de testare – structurale, auxiliară și mutmut</vt:lpstr>
      <vt:lpstr>Rezultate coverage</vt:lpstr>
      <vt:lpstr>Mutation testing</vt:lpstr>
      <vt:lpstr>Raport AI</vt:lpstr>
      <vt:lpstr>Vă mulțumim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Copilau</dc:creator>
  <cp:lastModifiedBy>Andrei Copilau</cp:lastModifiedBy>
  <cp:revision>21</cp:revision>
  <dcterms:created xsi:type="dcterms:W3CDTF">2026-05-16T15:17:09Z</dcterms:created>
  <dcterms:modified xsi:type="dcterms:W3CDTF">2026-05-17T20:25:23Z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74064600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